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5" r:id="rId2"/>
    <p:sldId id="286" r:id="rId3"/>
    <p:sldId id="294" r:id="rId4"/>
    <p:sldId id="292" r:id="rId5"/>
    <p:sldId id="295" r:id="rId6"/>
    <p:sldId id="299" r:id="rId7"/>
    <p:sldId id="293" r:id="rId8"/>
    <p:sldId id="296" r:id="rId9"/>
    <p:sldId id="298" r:id="rId10"/>
    <p:sldId id="29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FE16E5-C1A5-4ADC-A58D-C5AB94C349CE}">
          <p14:sldIdLst/>
        </p14:section>
        <p14:section name="Section par défaut" id="{12106A3B-1DCD-411C-A0BA-C82FFFE741B4}">
          <p14:sldIdLst>
            <p14:sldId id="285"/>
            <p14:sldId id="286"/>
            <p14:sldId id="294"/>
            <p14:sldId id="292"/>
            <p14:sldId id="295"/>
            <p14:sldId id="299"/>
            <p14:sldId id="293"/>
            <p14:sldId id="296"/>
            <p14:sldId id="298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687C"/>
    <a:srgbClr val="CEE3E0"/>
    <a:srgbClr val="CB4E3D"/>
    <a:srgbClr val="F6AB32"/>
    <a:srgbClr val="455368"/>
    <a:srgbClr val="1CAE97"/>
    <a:srgbClr val="118977"/>
    <a:srgbClr val="D1E5E2"/>
    <a:srgbClr val="CCE4DF"/>
    <a:srgbClr val="1DA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9C2B7-2340-4B17-AD23-4C674DC72124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0955B-1063-41C6-B0A0-F15B79B2AA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15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D80D7-E795-47DF-A270-8934FAE3AB7E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27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EF65-4ABC-49B6-B8C2-CC51A8302A79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76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E79D-B2B2-4314-98C2-97D1765D683E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52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77D-18E6-48E1-B98A-CB51CCB05D3E}" type="datetime1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72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FB86-5F63-475F-95DE-71FE06FEDD9D}" type="datetime1">
              <a:rPr lang="fr-FR" smtClean="0"/>
              <a:t>01/09/2025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52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3160-E747-4298-BF2C-FC1DD17DCC41}" type="datetime1">
              <a:rPr lang="fr-FR" smtClean="0"/>
              <a:t>01/09/2025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41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0B08-C7D8-4E26-9D27-1835A20019FC}" type="datetime1">
              <a:rPr lang="fr-FR" smtClean="0"/>
              <a:t>01/09/2025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16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82F3-944C-411F-B3D2-58FB800E25BF}" type="datetime1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39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CB88-89C1-4EE1-8CE8-7B5CFB197E54}" type="datetime1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5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re de section X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0000" y="0"/>
            <a:ext cx="6037553" cy="16002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5760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00874" y="1885278"/>
            <a:ext cx="5996679" cy="49727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7895753" y="1564341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18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48DC-66E5-4596-9135-7E043A6DB25F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07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BD7F-D5DA-4F8D-B651-1A3D9E7B4713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26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96258" y="1"/>
            <a:ext cx="11399484" cy="1021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2229" y="1248228"/>
            <a:ext cx="11727542" cy="5110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32229" y="64032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D1E5E2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fld id="{DD926776-FF8D-4ACB-B9C3-460D6EA75E10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599" y="640321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rgbClr val="CCE4D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r>
              <a:rPr lang="fr-FR"/>
              <a:t>Xavier PESSOLES</a:t>
            </a:r>
            <a:endParaRPr lang="fr-FR" dirty="0"/>
          </a:p>
        </p:txBody>
      </p:sp>
      <p:sp>
        <p:nvSpPr>
          <p:cNvPr id="11" name="Ellipse 10"/>
          <p:cNvSpPr/>
          <p:nvPr userDrawn="1"/>
        </p:nvSpPr>
        <p:spPr>
          <a:xfrm>
            <a:off x="11795742" y="35861"/>
            <a:ext cx="360398" cy="360398"/>
          </a:xfrm>
          <a:prstGeom prst="ellipse">
            <a:avLst/>
          </a:prstGeom>
          <a:solidFill>
            <a:srgbClr val="1DA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fld id="{02196018-509E-4570-898D-D0D576E6803E}" type="slidenum">
              <a:rPr lang="fr-FR" sz="1100" smtClean="0">
                <a:latin typeface="Segoe UI Semibold" panose="020B0702040204020203" pitchFamily="34" charset="0"/>
                <a:ea typeface="Adobe Gothic Std B" panose="020B0800000000000000" pitchFamily="34" charset="-128"/>
                <a:cs typeface="Segoe UI Semibold" panose="020B0702040204020203" pitchFamily="34" charset="0"/>
              </a:rPr>
              <a:pPr/>
              <a:t>‹N°›</a:t>
            </a:fld>
            <a:endParaRPr lang="fr-FR" sz="1100" dirty="0">
              <a:latin typeface="Segoe UI Semibold" panose="020B0702040204020203" pitchFamily="34" charset="0"/>
              <a:ea typeface="Adobe Gothic Std B" panose="020B0800000000000000" pitchFamily="34" charset="-128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2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455368"/>
          </a:solidFill>
          <a:latin typeface="Segoe UI Semibold" panose="020B0702040204020203" pitchFamily="34" charset="0"/>
          <a:ea typeface="Adobe Gothic Std B" panose="020B0800000000000000" pitchFamily="34" charset="-128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ei-concours.fr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sietoilelamartin.github.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936F8A-D811-67D3-C8C9-CEEAA2AB8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3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/>
              <a:t>Bienvenue en PSI* au Lycée La Martinière Monplaisir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4AD092-EFFC-9053-B920-E395DDA0E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39048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accent6">
                    <a:lumMod val="50000"/>
                  </a:schemeClr>
                </a:solidFill>
              </a:rPr>
              <a:t>https://psietoilelamartin.github.io/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733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1CFA7-8A2A-67D7-94F6-8F7E0940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Présentations – Qui êtes-vous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95A71E-FBD4-C63B-81A8-42BE9BD6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Appel</a:t>
            </a:r>
          </a:p>
          <a:p>
            <a:pPr lvl="1"/>
            <a:endParaRPr lang="fr-FR" dirty="0"/>
          </a:p>
          <a:p>
            <a:r>
              <a:rPr lang="fr-FR" dirty="0"/>
              <a:t>Origines</a:t>
            </a:r>
          </a:p>
          <a:p>
            <a:pPr lvl="1"/>
            <a:r>
              <a:rPr lang="fr-FR" dirty="0"/>
              <a:t>3 PCSI et de 2 MPSI du lycée La Martinière, mais aussi de Jean Perrin, Camille Vernet</a:t>
            </a:r>
          </a:p>
          <a:p>
            <a:pPr lvl="1"/>
            <a:r>
              <a:rPr lang="fr-FR" dirty="0"/>
              <a:t>Des 5/2 du Lycée La Martinière Monplaisir et Lycée Jean Perrin ou Saint-Louis</a:t>
            </a:r>
          </a:p>
          <a:p>
            <a:pPr lvl="1"/>
            <a:r>
              <a:rPr lang="fr-FR" dirty="0"/>
              <a:t>… Soient une dizaine de lycées différentes.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D858AB-C73B-9B7C-7E3F-764FA9A9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173540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1CFA7-8A2A-67D7-94F6-8F7E0940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Présentations – Qui sommes-nous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95A71E-FBD4-C63B-81A8-42BE9BD6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Mathématiques – Skander ZANNAD </a:t>
            </a:r>
          </a:p>
          <a:p>
            <a:r>
              <a:rPr lang="fr-FR" dirty="0"/>
              <a:t>Physique Chimie – Jean-Noël BERNARD</a:t>
            </a:r>
          </a:p>
          <a:p>
            <a:r>
              <a:rPr lang="fr-FR" dirty="0"/>
              <a:t>Sciences de l’Ingénieur – Xavier PESSOLES</a:t>
            </a:r>
          </a:p>
          <a:p>
            <a:r>
              <a:rPr lang="fr-FR" dirty="0"/>
              <a:t>Informatique – Thibaut CANTALUPPI</a:t>
            </a:r>
          </a:p>
          <a:p>
            <a:r>
              <a:rPr lang="fr-FR" dirty="0"/>
              <a:t>Français – Marie-Aude de LANGENHAGEN</a:t>
            </a:r>
          </a:p>
          <a:p>
            <a:r>
              <a:rPr lang="fr-FR" dirty="0"/>
              <a:t>Anglais – Claire SOUCHE-RIEU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D858AB-C73B-9B7C-7E3F-764FA9A9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68034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65228-9B35-1CD6-1F5B-B4DC193D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banques de concours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84AAEE-58D9-DD1F-7B7B-8ACAD1FB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CCINP (dans le concours : ENAC, ENSE3, ISAE-</a:t>
            </a:r>
            <a:r>
              <a:rPr lang="fr-FR" dirty="0" err="1"/>
              <a:t>Supmeca</a:t>
            </a:r>
            <a:r>
              <a:rPr lang="fr-FR" dirty="0"/>
              <a:t>, N7, Phelma; en banque : INSA, Ecole de l’air, …)</a:t>
            </a:r>
          </a:p>
          <a:p>
            <a:r>
              <a:rPr lang="fr-FR" dirty="0"/>
              <a:t>Mines Telecom (Mines d’Alès, Nantes, Douai, Albi, ENSTA Bretagne…)</a:t>
            </a:r>
          </a:p>
          <a:p>
            <a:r>
              <a:rPr lang="fr-FR" dirty="0"/>
              <a:t>Concours Centrale </a:t>
            </a:r>
            <a:r>
              <a:rPr lang="fr-FR" dirty="0" err="1"/>
              <a:t>Supelec</a:t>
            </a:r>
            <a:r>
              <a:rPr lang="fr-FR" dirty="0"/>
              <a:t> (Centrale </a:t>
            </a:r>
            <a:r>
              <a:rPr lang="fr-FR" dirty="0" err="1"/>
              <a:t>Supelec</a:t>
            </a:r>
            <a:r>
              <a:rPr lang="fr-FR" dirty="0"/>
              <a:t>, Lyon, Nantes, Marseille, Lille, </a:t>
            </a:r>
            <a:r>
              <a:rPr lang="fr-FR" dirty="0" err="1"/>
              <a:t>Supoptique</a:t>
            </a:r>
            <a:r>
              <a:rPr lang="fr-FR" dirty="0"/>
              <a:t>, …)</a:t>
            </a:r>
          </a:p>
          <a:p>
            <a:r>
              <a:rPr lang="fr-FR" dirty="0"/>
              <a:t>Concours Mines Ponts (Mines de Paris, de Saint-Etienne, Nancy, SUPAERO, ENSTA Paris, TELECOM Paris, …)</a:t>
            </a:r>
          </a:p>
          <a:p>
            <a:r>
              <a:rPr lang="fr-FR" dirty="0"/>
              <a:t>Concours X-ENS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33683B-7DE2-DE28-2C4A-BA521F13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212592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524F8-79D9-B23E-F82A-A8D2D5A42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2024 &amp; Ambitions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6E53D3-E1F5-A0CF-B3F3-A8BC3656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78A20A-E708-2C64-DAFA-BDAE6D9D98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6" y="1746315"/>
            <a:ext cx="5761108" cy="356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7F9E0E2-F932-799C-AF4C-639A6AE2B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93490"/>
            <a:ext cx="5562601" cy="307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1EB2FD8-59A5-AEFF-D3F4-BDDF6DD0D4CC}"/>
              </a:ext>
            </a:extLst>
          </p:cNvPr>
          <p:cNvSpPr txBox="1">
            <a:spLocks/>
          </p:cNvSpPr>
          <p:nvPr/>
        </p:nvSpPr>
        <p:spPr>
          <a:xfrm>
            <a:off x="232229" y="5308601"/>
            <a:ext cx="11727542" cy="1049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2 Arts et Métiers, 2 centrale Lille, 2 centrale Lyon, 3 Centrale Méditerranée, 4 Centrale </a:t>
            </a:r>
            <a:r>
              <a:rPr lang="fr-FR" dirty="0" err="1"/>
              <a:t>Supelec</a:t>
            </a:r>
            <a:r>
              <a:rPr lang="fr-FR" dirty="0"/>
              <a:t>, 1 </a:t>
            </a:r>
            <a:r>
              <a:rPr lang="fr-FR" dirty="0" err="1"/>
              <a:t>Supoptique</a:t>
            </a:r>
            <a:r>
              <a:rPr lang="fr-FR" dirty="0"/>
              <a:t>, 6 SUPAERO, </a:t>
            </a:r>
          </a:p>
          <a:p>
            <a:r>
              <a:rPr lang="fr-FR" dirty="0"/>
              <a:t>2 ENSTA, 6 SUPAERO , 1 Mines de Nancy, 1 Mines de Saint-Etienne, 1 TELECOM PARIS, </a:t>
            </a:r>
          </a:p>
          <a:p>
            <a:r>
              <a:rPr lang="fr-FR" dirty="0"/>
              <a:t>2 ENAC, 1 ENTPE, 2 IMT Atlantique, 2 IMT Mines d’Alès, 3 INSA, 2 ISAE, 1 Lorraine INP2 Telecom </a:t>
            </a:r>
            <a:r>
              <a:rPr lang="fr-FR" dirty="0" err="1"/>
              <a:t>SudParis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061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ABA35-A7A4-4FC7-2D90-F26282B8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185B33-F592-F82F-0560-7608DBEA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2025 &amp; Ambitions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08824C-0CB9-DFAB-3E67-8DDC0C3F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E9092FC-5347-DE00-813C-5A4C6D864F8B}"/>
              </a:ext>
            </a:extLst>
          </p:cNvPr>
          <p:cNvSpPr txBox="1">
            <a:spLocks/>
          </p:cNvSpPr>
          <p:nvPr/>
        </p:nvSpPr>
        <p:spPr>
          <a:xfrm>
            <a:off x="232229" y="5052060"/>
            <a:ext cx="11727542" cy="130632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 ENS ULM </a:t>
            </a:r>
          </a:p>
          <a:p>
            <a:r>
              <a:rPr lang="fr-FR" dirty="0"/>
              <a:t>2 Centrale Lille, 2 Centrale Lyon, 1 Centrale Marseille, 3 Centrale Nantes, 5 Centrale </a:t>
            </a:r>
            <a:r>
              <a:rPr lang="fr-FR" dirty="0" err="1"/>
              <a:t>Supelec</a:t>
            </a:r>
            <a:r>
              <a:rPr lang="fr-FR" dirty="0"/>
              <a:t>, 1 Sup optique (Magistère), 1 Ecole Navale</a:t>
            </a:r>
          </a:p>
          <a:p>
            <a:r>
              <a:rPr lang="fr-FR" dirty="0"/>
              <a:t>1 Ponts et Chaussée, 3 ENSTA Paris, 1 </a:t>
            </a:r>
            <a:r>
              <a:rPr lang="fr-FR" dirty="0" err="1"/>
              <a:t>Supaéro</a:t>
            </a:r>
            <a:r>
              <a:rPr lang="fr-FR" dirty="0"/>
              <a:t>, 2 Mines St Etienne, 1 IMT Atlantique,</a:t>
            </a:r>
          </a:p>
          <a:p>
            <a:r>
              <a:rPr lang="fr-FR" dirty="0"/>
              <a:t>1 ENAC, 1 ENSTA Bretagne, 1 St Cyr, 2 Phelma, 1 IMT Alès, 4 INSA  2 ENSMA Poitiers, 1 Telecom St Etienne, 1 ENSEEIHT</a:t>
            </a:r>
          </a:p>
          <a:p>
            <a:endParaRPr lang="fr-F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72BF652-F43D-A14D-2ABE-022FE8069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271" y="1225018"/>
            <a:ext cx="6323457" cy="39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55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882BC-88A9-9283-5424-A7AF8673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Planning (approximatif) d’un élève de deuxième année</a:t>
            </a:r>
            <a:br>
              <a:rPr lang="fr-FR" dirty="0"/>
            </a:br>
            <a:r>
              <a:rPr lang="fr-FR" dirty="0">
                <a:hlinkClick r:id="rId2"/>
              </a:rPr>
              <a:t>https://www.scei-concours.fr/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18F103-7884-5725-50CE-04BD69D9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Inscription en ligne mi-décembre, mi-janvier</a:t>
            </a:r>
          </a:p>
          <a:p>
            <a:pPr lvl="1"/>
            <a:r>
              <a:rPr lang="fr-FR" dirty="0"/>
              <a:t>Mise à jour de vos papiers d’identité</a:t>
            </a:r>
          </a:p>
          <a:p>
            <a:r>
              <a:rPr lang="fr-FR" dirty="0"/>
              <a:t>Début février : TIPE, MCOT</a:t>
            </a:r>
          </a:p>
          <a:p>
            <a:r>
              <a:rPr lang="fr-FR" dirty="0"/>
              <a:t>Mi avril à Mi-mai : Concours</a:t>
            </a:r>
          </a:p>
          <a:p>
            <a:r>
              <a:rPr lang="fr-FR" dirty="0"/>
              <a:t>Mi-mai à mi-juin : préparation aux oraux</a:t>
            </a:r>
          </a:p>
          <a:p>
            <a:r>
              <a:rPr lang="fr-FR" dirty="0"/>
              <a:t>Mi juin : TIPE, DOT et présentation</a:t>
            </a:r>
          </a:p>
          <a:p>
            <a:r>
              <a:rPr lang="fr-FR" dirty="0"/>
              <a:t>Mi-juin : résultats des écrits (Admissibilités)</a:t>
            </a:r>
          </a:p>
          <a:p>
            <a:r>
              <a:rPr lang="fr-FR" dirty="0"/>
              <a:t>Mi-juin à troisième semaine de juillet : Oraux</a:t>
            </a:r>
          </a:p>
          <a:p>
            <a:r>
              <a:rPr lang="fr-FR" dirty="0"/>
              <a:t>Fin juillet à fin août : résultats finaux (Admissions)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B210A6A-99EA-2ED0-6F67-13EFE50D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73936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E32F3-9C2B-F184-42BF-B43DE355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Site Internet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C4E54D-6A21-2C66-D788-4BF497F31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ctr">
              <a:buNone/>
            </a:pPr>
            <a:r>
              <a:rPr lang="fr-FR" dirty="0">
                <a:solidFill>
                  <a:schemeClr val="accent6">
                    <a:lumMod val="50000"/>
                  </a:schemeClr>
                </a:solidFill>
                <a:hlinkClick r:id="rId2"/>
              </a:rPr>
              <a:t>https://psietoilelamartin.github.io/</a:t>
            </a:r>
            <a:endParaRPr lang="fr-FR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fr-FR" dirty="0"/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EE6210-C0A8-C511-AFA5-F8D521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302FD26-365B-53D7-6B4A-554D6DC7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27" y="1968500"/>
            <a:ext cx="7345744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53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56309-986C-CC41-E930-B18F41D9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Journée de Cohésion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585F5-ABAF-7545-FC28-D97B321C3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Mardi 2 septembre, rendez-vous 8h45 à l’entrée du lycée</a:t>
            </a:r>
          </a:p>
          <a:p>
            <a:r>
              <a:rPr lang="fr-FR" dirty="0"/>
              <a:t>Tenue de « randonnée » (chaussure de sport, sac facile à porter)</a:t>
            </a:r>
          </a:p>
          <a:p>
            <a:r>
              <a:rPr lang="fr-FR" dirty="0"/>
              <a:t>Chapeau, lunette de soleil ou </a:t>
            </a:r>
            <a:r>
              <a:rPr lang="fr-FR" dirty="0" err="1"/>
              <a:t>kway</a:t>
            </a:r>
            <a:r>
              <a:rPr lang="fr-FR" dirty="0"/>
              <a:t> selon météo</a:t>
            </a:r>
          </a:p>
          <a:p>
            <a:r>
              <a:rPr lang="fr-FR" dirty="0"/>
              <a:t>Un pique-nique pour les non internes (actuellement 20 prévus pour les internes)</a:t>
            </a:r>
          </a:p>
          <a:p>
            <a:r>
              <a:rPr lang="fr-FR" dirty="0"/>
              <a:t>De l’eau !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D7E596-8397-5C3A-82DC-8AB1EB92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340991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85CE70-57B5-BADA-9F09-2054B99F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 maintenant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6B5BA3-6C08-55A3-67BB-331F4DDA7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Fiche de renseignement</a:t>
            </a:r>
          </a:p>
          <a:p>
            <a:r>
              <a:rPr lang="fr-FR" dirty="0"/>
              <a:t>Photo d’identité</a:t>
            </a:r>
          </a:p>
          <a:p>
            <a:r>
              <a:rPr lang="fr-FR" dirty="0"/>
              <a:t>Demande d’aménagements</a:t>
            </a:r>
          </a:p>
          <a:p>
            <a:r>
              <a:rPr lang="fr-FR" dirty="0"/>
              <a:t>Inscription cahier de prépas </a:t>
            </a:r>
          </a:p>
          <a:p>
            <a:pPr lvl="1"/>
            <a:r>
              <a:rPr lang="fr-FR" dirty="0"/>
              <a:t>https://cahier-de-prepa.fr/psi*-martiniere-monplaisir/gestioncompte?creation</a:t>
            </a:r>
          </a:p>
          <a:p>
            <a:r>
              <a:rPr lang="fr-FR" dirty="0"/>
              <a:t>Vérifier la validité de sa carte d’identité (valide jusqu’à début août 2026)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DA820A-9BAA-7B1C-F846-6D0699A1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F2327E-424E-D4E5-B500-A5DC3A5D5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187" y="4133849"/>
            <a:ext cx="2724151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3BB0F6E-8572-F5A7-6FA5-3E1205919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4133849"/>
            <a:ext cx="27241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9392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Grand écran</PresentationFormat>
  <Paragraphs>70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Adobe Gothic Std B</vt:lpstr>
      <vt:lpstr>Arial</vt:lpstr>
      <vt:lpstr>Calibri</vt:lpstr>
      <vt:lpstr>Segoe UI Semibold</vt:lpstr>
      <vt:lpstr>Thème Office</vt:lpstr>
      <vt:lpstr>Bienvenue en PSI* au Lycée La Martinière Monplaisir</vt:lpstr>
      <vt:lpstr>Présentations – Qui êtes-vous ?</vt:lpstr>
      <vt:lpstr>Présentations – Qui sommes-nous ?</vt:lpstr>
      <vt:lpstr>Les banques de concours</vt:lpstr>
      <vt:lpstr>Résultats 2024 &amp; Ambitions</vt:lpstr>
      <vt:lpstr>Résultats 2025 &amp; Ambitions</vt:lpstr>
      <vt:lpstr>Planning (approximatif) d’un élève de deuxième année https://www.scei-concours.fr/ </vt:lpstr>
      <vt:lpstr>Site Internet</vt:lpstr>
      <vt:lpstr>Journée de Cohésion</vt:lpstr>
      <vt:lpstr>Et maintenant</vt:lpstr>
    </vt:vector>
  </TitlesOfParts>
  <Company>RRA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Xavier Pessoles</cp:lastModifiedBy>
  <cp:revision>77</cp:revision>
  <dcterms:created xsi:type="dcterms:W3CDTF">2021-12-09T09:25:13Z</dcterms:created>
  <dcterms:modified xsi:type="dcterms:W3CDTF">2025-09-01T11:24:11Z</dcterms:modified>
</cp:coreProperties>
</file>