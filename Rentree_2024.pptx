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5" r:id="rId2"/>
    <p:sldId id="286" r:id="rId3"/>
    <p:sldId id="294" r:id="rId4"/>
    <p:sldId id="292" r:id="rId5"/>
    <p:sldId id="295" r:id="rId6"/>
    <p:sldId id="293" r:id="rId7"/>
    <p:sldId id="296" r:id="rId8"/>
    <p:sldId id="288" r:id="rId9"/>
    <p:sldId id="289" r:id="rId10"/>
    <p:sldId id="291" r:id="rId11"/>
    <p:sldId id="297" r:id="rId12"/>
    <p:sldId id="298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6AFE16E5-C1A5-4ADC-A58D-C5AB94C349CE}">
          <p14:sldIdLst/>
        </p14:section>
        <p14:section name="Section par défaut" id="{12106A3B-1DCD-411C-A0BA-C82FFFE741B4}">
          <p14:sldIdLst>
            <p14:sldId id="285"/>
            <p14:sldId id="286"/>
            <p14:sldId id="294"/>
            <p14:sldId id="292"/>
            <p14:sldId id="295"/>
            <p14:sldId id="293"/>
            <p14:sldId id="296"/>
            <p14:sldId id="288"/>
            <p14:sldId id="289"/>
            <p14:sldId id="291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687C"/>
    <a:srgbClr val="CEE3E0"/>
    <a:srgbClr val="CB4E3D"/>
    <a:srgbClr val="F6AB32"/>
    <a:srgbClr val="455368"/>
    <a:srgbClr val="1CAE97"/>
    <a:srgbClr val="118977"/>
    <a:srgbClr val="D1E5E2"/>
    <a:srgbClr val="CCE4DF"/>
    <a:srgbClr val="1DAE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9C2B7-2340-4B17-AD23-4C674DC72124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0955B-1063-41C6-B0A0-F15B79B2AA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15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D80D7-E795-47DF-A270-8934FAE3AB7E}" type="datetime1">
              <a:rPr lang="fr-FR" smtClean="0"/>
              <a:t>02/09/2024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627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0EF65-4ABC-49B6-B8C2-CC51A8302A79}" type="datetime1">
              <a:rPr lang="fr-FR" smtClean="0"/>
              <a:t>02/09/2024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/>
          <p:cNvSpPr/>
          <p:nvPr userDrawn="1"/>
        </p:nvSpPr>
        <p:spPr>
          <a:xfrm>
            <a:off x="5212976" y="995083"/>
            <a:ext cx="1766047" cy="71718"/>
          </a:xfrm>
          <a:prstGeom prst="rect">
            <a:avLst/>
          </a:prstGeom>
          <a:solidFill>
            <a:srgbClr val="7C8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762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E79D-B2B2-4314-98C2-97D1765D683E}" type="datetime1">
              <a:rPr lang="fr-FR" smtClean="0"/>
              <a:t>02/09/2024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529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77D-18E6-48E1-B98A-CB51CCB05D3E}" type="datetime1">
              <a:rPr lang="fr-FR" smtClean="0"/>
              <a:t>02/09/2024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Rectangle 7"/>
          <p:cNvSpPr/>
          <p:nvPr userDrawn="1"/>
        </p:nvSpPr>
        <p:spPr>
          <a:xfrm>
            <a:off x="5212976" y="995083"/>
            <a:ext cx="1766047" cy="71718"/>
          </a:xfrm>
          <a:prstGeom prst="rect">
            <a:avLst/>
          </a:prstGeom>
          <a:solidFill>
            <a:srgbClr val="7C8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6721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FB86-5F63-475F-95DE-71FE06FEDD9D}" type="datetime1">
              <a:rPr lang="fr-FR" smtClean="0"/>
              <a:t>02/09/2024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52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3160-E747-4298-BF2C-FC1DD17DCC41}" type="datetime1">
              <a:rPr lang="fr-FR" smtClean="0"/>
              <a:t>02/09/2024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Rectangle 5"/>
          <p:cNvSpPr/>
          <p:nvPr userDrawn="1"/>
        </p:nvSpPr>
        <p:spPr>
          <a:xfrm>
            <a:off x="5212976" y="995083"/>
            <a:ext cx="1766047" cy="71718"/>
          </a:xfrm>
          <a:prstGeom prst="rect">
            <a:avLst/>
          </a:prstGeom>
          <a:solidFill>
            <a:srgbClr val="7C8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41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20B08-C7D8-4E26-9D27-1835A20019FC}" type="datetime1">
              <a:rPr lang="fr-FR" smtClean="0"/>
              <a:t>02/09/2024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616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82F3-944C-411F-B3D2-58FB800E25BF}" type="datetime1">
              <a:rPr lang="fr-FR" smtClean="0"/>
              <a:t>02/09/2024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39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CB88-89C1-4EE1-8CE8-7B5CFB197E54}" type="datetime1">
              <a:rPr lang="fr-FR" smtClean="0"/>
              <a:t>02/09/2024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5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re de section X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60000" y="0"/>
            <a:ext cx="6037553" cy="16002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57600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800874" y="1885278"/>
            <a:ext cx="5996679" cy="497272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7895753" y="1564341"/>
            <a:ext cx="1766047" cy="71718"/>
          </a:xfrm>
          <a:prstGeom prst="rect">
            <a:avLst/>
          </a:prstGeom>
          <a:solidFill>
            <a:srgbClr val="7C83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318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48DC-66E5-4596-9135-7E043A6DB25F}" type="datetime1">
              <a:rPr lang="fr-FR" smtClean="0"/>
              <a:t>02/09/2024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1073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CBD7F-D5DA-4F8D-B651-1A3D9E7B4713}" type="datetime1">
              <a:rPr lang="fr-FR" smtClean="0"/>
              <a:t>02/09/2024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16569" y="6390141"/>
            <a:ext cx="2743200" cy="365125"/>
          </a:xfrm>
          <a:prstGeom prst="rect">
            <a:avLst/>
          </a:prstGeom>
        </p:spPr>
        <p:txBody>
          <a:bodyPr/>
          <a:lstStyle/>
          <a:p>
            <a:fld id="{02196018-509E-4570-898D-D0D576E680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26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96258" y="1"/>
            <a:ext cx="11399484" cy="1021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2229" y="1248228"/>
            <a:ext cx="11727542" cy="5110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32229" y="64032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D1E5E2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defRPr>
            </a:lvl1pPr>
          </a:lstStyle>
          <a:p>
            <a:fld id="{DD926776-FF8D-4ACB-B9C3-460D6EA75E10}" type="datetime1">
              <a:rPr lang="fr-FR" smtClean="0"/>
              <a:t>02/09/2024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599" y="640321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rgbClr val="CCE4D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defRPr>
            </a:lvl1pPr>
          </a:lstStyle>
          <a:p>
            <a:r>
              <a:rPr lang="fr-FR"/>
              <a:t>Xavier PESSOLES</a:t>
            </a:r>
            <a:endParaRPr lang="fr-FR" dirty="0"/>
          </a:p>
        </p:txBody>
      </p:sp>
      <p:sp>
        <p:nvSpPr>
          <p:cNvPr id="11" name="Ellipse 10"/>
          <p:cNvSpPr/>
          <p:nvPr userDrawn="1"/>
        </p:nvSpPr>
        <p:spPr>
          <a:xfrm>
            <a:off x="11795742" y="35861"/>
            <a:ext cx="360398" cy="360398"/>
          </a:xfrm>
          <a:prstGeom prst="ellipse">
            <a:avLst/>
          </a:prstGeom>
          <a:solidFill>
            <a:srgbClr val="1DA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fld id="{02196018-509E-4570-898D-D0D576E6803E}" type="slidenum">
              <a:rPr lang="fr-FR" sz="1100" smtClean="0">
                <a:latin typeface="Segoe UI Semibold" panose="020B0702040204020203" pitchFamily="34" charset="0"/>
                <a:ea typeface="Adobe Gothic Std B" panose="020B0800000000000000" pitchFamily="34" charset="-128"/>
                <a:cs typeface="Segoe UI Semibold" panose="020B0702040204020203" pitchFamily="34" charset="0"/>
              </a:rPr>
              <a:pPr/>
              <a:t>‹N°›</a:t>
            </a:fld>
            <a:endParaRPr lang="fr-FR" sz="1100" dirty="0">
              <a:latin typeface="Segoe UI Semibold" panose="020B0702040204020203" pitchFamily="34" charset="0"/>
              <a:ea typeface="Adobe Gothic Std B" panose="020B0800000000000000" pitchFamily="34" charset="-128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62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58" r:id="rId11"/>
    <p:sldLayoutId id="2147483659" r:id="rId12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rgbClr val="455368"/>
          </a:solidFill>
          <a:latin typeface="Segoe UI Semibold" panose="020B0702040204020203" pitchFamily="34" charset="0"/>
          <a:ea typeface="Adobe Gothic Std B" panose="020B0800000000000000" pitchFamily="34" charset="-128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ei-concours.fr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psietoile.lamartin.fr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936F8A-D811-67D3-C8C9-CEEAA2AB8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3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dirty="0"/>
              <a:t>Bienvenue en PSI* au Lycée La Martinière Monplaisir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74AD092-EFFC-9053-B920-E395DDA0E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39048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accent6">
                    <a:lumMod val="50000"/>
                  </a:schemeClr>
                </a:solidFill>
              </a:rPr>
              <a:t>psietoile.lamartin.fr</a:t>
            </a:r>
          </a:p>
          <a:p>
            <a:endParaRPr lang="fr-FR" dirty="0"/>
          </a:p>
        </p:txBody>
      </p:sp>
      <p:pic>
        <p:nvPicPr>
          <p:cNvPr id="5" name="Image 4" descr="Une image contenant Graphique, Police, motif, typographie&#10;&#10;Description générée automatiquement">
            <a:extLst>
              <a:ext uri="{FF2B5EF4-FFF2-40B4-BE49-F238E27FC236}">
                <a16:creationId xmlns:a16="http://schemas.microsoft.com/office/drawing/2014/main" id="{13890EED-396D-6137-4923-667910E5E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540" y="3067050"/>
            <a:ext cx="3550920" cy="355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35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31CFA7-8A2A-67D7-94F6-8F7E0940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Présentations – Qui êtes-vous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95A71E-FBD4-C63B-81A8-42BE9BD69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FR" dirty="0"/>
              <a:t>Appel</a:t>
            </a:r>
          </a:p>
          <a:p>
            <a:pPr lvl="1"/>
            <a:endParaRPr lang="fr-FR" dirty="0"/>
          </a:p>
          <a:p>
            <a:r>
              <a:rPr lang="fr-FR" dirty="0"/>
              <a:t>Origines</a:t>
            </a:r>
          </a:p>
          <a:p>
            <a:pPr lvl="1"/>
            <a:r>
              <a:rPr lang="fr-FR" dirty="0"/>
              <a:t>3 PCSI et de 2 MPSI du lycée La Martinière</a:t>
            </a:r>
          </a:p>
          <a:p>
            <a:pPr lvl="1"/>
            <a:r>
              <a:rPr lang="fr-FR" dirty="0"/>
              <a:t>Lycée Amiot d’Auxerre</a:t>
            </a:r>
          </a:p>
          <a:p>
            <a:pPr lvl="1"/>
            <a:r>
              <a:rPr lang="fr-FR" dirty="0"/>
              <a:t>Lycée Naval</a:t>
            </a:r>
          </a:p>
          <a:p>
            <a:pPr lvl="1"/>
            <a:r>
              <a:rPr lang="fr-FR" dirty="0"/>
              <a:t>Lycée Vaugelas, Chambéry</a:t>
            </a:r>
          </a:p>
          <a:p>
            <a:pPr lvl="1"/>
            <a:r>
              <a:rPr lang="fr-FR" dirty="0"/>
              <a:t>Lycée Roland Garros, La Réunion</a:t>
            </a:r>
          </a:p>
          <a:p>
            <a:pPr lvl="1"/>
            <a:r>
              <a:rPr lang="fr-FR" dirty="0"/>
              <a:t>Lycée Barthou, Pau</a:t>
            </a:r>
          </a:p>
          <a:p>
            <a:pPr lvl="1"/>
            <a:r>
              <a:rPr lang="fr-FR" dirty="0"/>
              <a:t>Lycée Vaucanson, Grenoble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… Soient 11 classes différentes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D858AB-C73B-9B7C-7E3F-764FA9A9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</p:spTree>
    <p:extLst>
      <p:ext uri="{BB962C8B-B14F-4D97-AF65-F5344CB8AC3E}">
        <p14:creationId xmlns:p14="http://schemas.microsoft.com/office/powerpoint/2010/main" val="1735408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31CFA7-8A2A-67D7-94F6-8F7E0940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Présentations – Qui sommes-nous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95A71E-FBD4-C63B-81A8-42BE9BD69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Mathématiques – Skander ZANNAD </a:t>
            </a:r>
          </a:p>
          <a:p>
            <a:r>
              <a:rPr lang="fr-FR" dirty="0"/>
              <a:t>Physique Chimie – Jean-Noël BERNARD</a:t>
            </a:r>
          </a:p>
          <a:p>
            <a:r>
              <a:rPr lang="fr-FR" dirty="0"/>
              <a:t>Sciences de l’Ingénieur – Xavier PESSOLES</a:t>
            </a:r>
          </a:p>
          <a:p>
            <a:r>
              <a:rPr lang="fr-FR" dirty="0"/>
              <a:t>Informatique – Thibaut CANTALUPPI</a:t>
            </a:r>
          </a:p>
          <a:p>
            <a:r>
              <a:rPr lang="fr-FR" dirty="0"/>
              <a:t>Français – Marie-Aude de LANGENHAGEN</a:t>
            </a:r>
          </a:p>
          <a:p>
            <a:r>
              <a:rPr lang="fr-FR" dirty="0"/>
              <a:t>Anglais – Florence DEBAECKER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D858AB-C73B-9B7C-7E3F-764FA9A9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</p:spTree>
    <p:extLst>
      <p:ext uri="{BB962C8B-B14F-4D97-AF65-F5344CB8AC3E}">
        <p14:creationId xmlns:p14="http://schemas.microsoft.com/office/powerpoint/2010/main" val="68034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965228-9B35-1CD6-1F5B-B4DC193D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banques de concours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84AAEE-58D9-DD1F-7B7B-8ACAD1FB2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CCINP (dans le concours : ENAC, ENSE3, ISAE-</a:t>
            </a:r>
            <a:r>
              <a:rPr lang="fr-FR" dirty="0" err="1"/>
              <a:t>Supmeca</a:t>
            </a:r>
            <a:r>
              <a:rPr lang="fr-FR" dirty="0"/>
              <a:t>, N7, Phelma; en banque : INSA, Ecole de l’air, …)</a:t>
            </a:r>
          </a:p>
          <a:p>
            <a:r>
              <a:rPr lang="fr-FR" dirty="0"/>
              <a:t>Mines Telecom (Mines d’Alès, Nantes, Douai, Albi, ENSTA Bretagne…)</a:t>
            </a:r>
          </a:p>
          <a:p>
            <a:r>
              <a:rPr lang="fr-FR" dirty="0"/>
              <a:t>Concours Centrale </a:t>
            </a:r>
            <a:r>
              <a:rPr lang="fr-FR" dirty="0" err="1"/>
              <a:t>Supelec</a:t>
            </a:r>
            <a:r>
              <a:rPr lang="fr-FR" dirty="0"/>
              <a:t> (Centrale </a:t>
            </a:r>
            <a:r>
              <a:rPr lang="fr-FR" dirty="0" err="1"/>
              <a:t>Supelec</a:t>
            </a:r>
            <a:r>
              <a:rPr lang="fr-FR" dirty="0"/>
              <a:t>, Lyon, Nantes, Marseille, Lille, </a:t>
            </a:r>
            <a:r>
              <a:rPr lang="fr-FR" dirty="0" err="1"/>
              <a:t>Supoptique</a:t>
            </a:r>
            <a:r>
              <a:rPr lang="fr-FR" dirty="0"/>
              <a:t>, …)</a:t>
            </a:r>
          </a:p>
          <a:p>
            <a:r>
              <a:rPr lang="fr-FR" dirty="0"/>
              <a:t>Concours Mines Ponts (Mines de Paris, de Saint-Etienne, Nancy, SUPAERO, ENSTA Paris, TELECOM Paris, …)</a:t>
            </a:r>
          </a:p>
          <a:p>
            <a:r>
              <a:rPr lang="fr-FR" dirty="0"/>
              <a:t>Concours X-ENS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733683B-7DE2-DE28-2C4A-BA521F13B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</p:spTree>
    <p:extLst>
      <p:ext uri="{BB962C8B-B14F-4D97-AF65-F5344CB8AC3E}">
        <p14:creationId xmlns:p14="http://schemas.microsoft.com/office/powerpoint/2010/main" val="2125920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F524F8-79D9-B23E-F82A-A8D2D5A42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2024 &amp; Ambitions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6E53D3-E1F5-A0CF-B3F3-A8BC3656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78A20A-E708-2C64-DAFA-BDAE6D9D98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46" y="1746315"/>
            <a:ext cx="5761108" cy="356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7F9E0E2-F932-799C-AF4C-639A6AE2B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93490"/>
            <a:ext cx="5562601" cy="307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1EB2FD8-59A5-AEFF-D3F4-BDDF6DD0D4CC}"/>
              </a:ext>
            </a:extLst>
          </p:cNvPr>
          <p:cNvSpPr txBox="1">
            <a:spLocks/>
          </p:cNvSpPr>
          <p:nvPr/>
        </p:nvSpPr>
        <p:spPr>
          <a:xfrm>
            <a:off x="232229" y="5308601"/>
            <a:ext cx="11727542" cy="104978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2 Arts et Métiers, 2 centrale Lille, 2 centrale Lyon, 3 Centrale Méditerranée, 4 Centrale </a:t>
            </a:r>
            <a:r>
              <a:rPr lang="fr-FR" dirty="0" err="1"/>
              <a:t>Supelec</a:t>
            </a:r>
            <a:r>
              <a:rPr lang="fr-FR" dirty="0"/>
              <a:t>, 2 ENAC, 2 ENSTA, 1 ENTPE, 2 IMT Atlantique, 2 IMT Mines d’Alès, 3 INSA, 1 </a:t>
            </a:r>
            <a:r>
              <a:rPr lang="fr-FR" dirty="0" err="1"/>
              <a:t>Supoptique</a:t>
            </a:r>
            <a:r>
              <a:rPr lang="fr-FR" dirty="0"/>
              <a:t>, 6 SUPAERO, 2 ISAE, 1 Lorraine INP, 1 Mines de Nancy, 1 Mines de Saint-Etienne, 1 TELECOM PARIS, 2 Telecom </a:t>
            </a:r>
            <a:r>
              <a:rPr lang="fr-FR" dirty="0" err="1"/>
              <a:t>SudParis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061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2882BC-88A9-9283-5424-A7AF8673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Planning (approximatif) d’un élève de deuxième année</a:t>
            </a:r>
            <a:br>
              <a:rPr lang="fr-FR" dirty="0"/>
            </a:br>
            <a:r>
              <a:rPr lang="fr-FR" dirty="0">
                <a:hlinkClick r:id="rId2"/>
              </a:rPr>
              <a:t>https://www.scei-concours.fr/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18F103-7884-5725-50CE-04BD69D9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Inscription en ligne mi-décembre, mi-janvier</a:t>
            </a:r>
          </a:p>
          <a:p>
            <a:pPr lvl="1"/>
            <a:r>
              <a:rPr lang="fr-FR" dirty="0"/>
              <a:t>Mise à jour de vos papiers d’identité</a:t>
            </a:r>
          </a:p>
          <a:p>
            <a:r>
              <a:rPr lang="fr-FR" dirty="0"/>
              <a:t>Début février : TIPE, MCOT</a:t>
            </a:r>
          </a:p>
          <a:p>
            <a:r>
              <a:rPr lang="fr-FR" dirty="0"/>
              <a:t>Mi avril à Mi-mai : Concours</a:t>
            </a:r>
          </a:p>
          <a:p>
            <a:r>
              <a:rPr lang="fr-FR" dirty="0"/>
              <a:t>Mi-mai à mi-juin : préparation aux oraux</a:t>
            </a:r>
          </a:p>
          <a:p>
            <a:r>
              <a:rPr lang="fr-FR" dirty="0"/>
              <a:t>Mi juin : TIPE, DOT et présentation</a:t>
            </a:r>
          </a:p>
          <a:p>
            <a:r>
              <a:rPr lang="fr-FR" dirty="0"/>
              <a:t>Mi-juin : résultats des écrits (Admissibilités)</a:t>
            </a:r>
          </a:p>
          <a:p>
            <a:r>
              <a:rPr lang="fr-FR" dirty="0"/>
              <a:t>Mi-juin à troisième semaine de juillet : Oraux</a:t>
            </a:r>
          </a:p>
          <a:p>
            <a:r>
              <a:rPr lang="fr-FR" dirty="0"/>
              <a:t>Fin juillet à fin août : résultats finaux (Admissions)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B210A6A-99EA-2ED0-6F67-13EFE50DA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</p:spTree>
    <p:extLst>
      <p:ext uri="{BB962C8B-B14F-4D97-AF65-F5344CB8AC3E}">
        <p14:creationId xmlns:p14="http://schemas.microsoft.com/office/powerpoint/2010/main" val="73936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9E32F3-9C2B-F184-42BF-B43DE3556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Site Internet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C4E54D-6A21-2C66-D788-4BF497F31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 algn="ctr">
              <a:buNone/>
            </a:pPr>
            <a:r>
              <a:rPr lang="fr-FR" dirty="0">
                <a:hlinkClick r:id="rId2"/>
              </a:rPr>
              <a:t>http://psietoile.lamartin.fr/</a:t>
            </a: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EE6210-C0A8-C511-AFA5-F8D521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77283E7-13D4-FF14-55CA-FE0DCB675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670" y="1866899"/>
            <a:ext cx="8372658" cy="428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53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7D0493-F137-14F8-FB5D-7B7F3F7F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Emploi du temps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CE26744-C2FD-4786-77A4-9BD9BF82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2B6D736E-16E6-ED3D-9250-A30877A9F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775" y="1483293"/>
            <a:ext cx="11728450" cy="4639127"/>
          </a:xfrm>
        </p:spPr>
      </p:pic>
    </p:spTree>
    <p:extLst>
      <p:ext uri="{BB962C8B-B14F-4D97-AF65-F5344CB8AC3E}">
        <p14:creationId xmlns:p14="http://schemas.microsoft.com/office/powerpoint/2010/main" val="2719693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80E9F7-B457-EF22-B175-AC570FDA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Planning annuel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3BBA019-16A8-5150-4501-22BB42DD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1E20CBE6-F336-DE1A-A569-56FE05EAA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755" y="1359353"/>
            <a:ext cx="10850489" cy="4887007"/>
          </a:xfrm>
        </p:spPr>
      </p:pic>
    </p:spTree>
    <p:extLst>
      <p:ext uri="{BB962C8B-B14F-4D97-AF65-F5344CB8AC3E}">
        <p14:creationId xmlns:p14="http://schemas.microsoft.com/office/powerpoint/2010/main" val="3904498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6C345-BF19-CD84-0070-A4D332E8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Emploi du temps de première semaine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5BF0272-5166-8F3F-13BA-063615441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A313C40-014E-E59F-F718-8788B3919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798" y="1247775"/>
            <a:ext cx="10864404" cy="5110163"/>
          </a:xfrm>
        </p:spPr>
      </p:pic>
    </p:spTree>
    <p:extLst>
      <p:ext uri="{BB962C8B-B14F-4D97-AF65-F5344CB8AC3E}">
        <p14:creationId xmlns:p14="http://schemas.microsoft.com/office/powerpoint/2010/main" val="697190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85CE70-57B5-BADA-9F09-2054B99FB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Divers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6B5BA3-6C08-55A3-67BB-331F4DDA7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Fiche de renseignement</a:t>
            </a:r>
          </a:p>
          <a:p>
            <a:r>
              <a:rPr lang="fr-FR" dirty="0"/>
              <a:t>Photo d’identité</a:t>
            </a:r>
          </a:p>
          <a:p>
            <a:r>
              <a:rPr lang="fr-FR" dirty="0"/>
              <a:t>Demande d’aménagements</a:t>
            </a:r>
          </a:p>
          <a:p>
            <a:r>
              <a:rPr lang="fr-FR" dirty="0"/>
              <a:t>Vérifier la validité de sa carte d’identité (valide jusqu’à début août 2025)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0DA820A-9BAA-7B1C-F846-6D0699A1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</p:spTree>
    <p:extLst>
      <p:ext uri="{BB962C8B-B14F-4D97-AF65-F5344CB8AC3E}">
        <p14:creationId xmlns:p14="http://schemas.microsoft.com/office/powerpoint/2010/main" val="2753939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956309-986C-CC41-E930-B18F41D9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Journée de Cohésion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0585F5-ABAF-7545-FC28-D97B321C3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Vendredi 6 septembre, rendez-vous 8h45 à l’entrée du lycée</a:t>
            </a:r>
          </a:p>
          <a:p>
            <a:r>
              <a:rPr lang="fr-FR" dirty="0"/>
              <a:t>Tenue de « randonnée » (chaussure de sport, sac facile à porter)</a:t>
            </a:r>
          </a:p>
          <a:p>
            <a:r>
              <a:rPr lang="fr-FR" dirty="0"/>
              <a:t>Chapeau, lunette de soleil ou </a:t>
            </a:r>
            <a:r>
              <a:rPr lang="fr-FR" dirty="0" err="1"/>
              <a:t>kway</a:t>
            </a:r>
            <a:r>
              <a:rPr lang="fr-FR" dirty="0"/>
              <a:t> selon météo</a:t>
            </a:r>
          </a:p>
          <a:p>
            <a:r>
              <a:rPr lang="fr-FR" dirty="0"/>
              <a:t>Un pique-nique pour les non internes (actuellement 20 prévus pour les internes)</a:t>
            </a:r>
          </a:p>
          <a:p>
            <a:r>
              <a:rPr lang="fr-FR" dirty="0"/>
              <a:t>De l’eau !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D7E596-8397-5C3A-82DC-8AB1EB92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Xavier PESSOLES</a:t>
            </a:r>
          </a:p>
        </p:txBody>
      </p:sp>
    </p:spTree>
    <p:extLst>
      <p:ext uri="{BB962C8B-B14F-4D97-AF65-F5344CB8AC3E}">
        <p14:creationId xmlns:p14="http://schemas.microsoft.com/office/powerpoint/2010/main" val="34099110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Microsoft Office PowerPoint</Application>
  <PresentationFormat>Grand écran</PresentationFormat>
  <Paragraphs>70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Adobe Gothic Std B</vt:lpstr>
      <vt:lpstr>Arial</vt:lpstr>
      <vt:lpstr>Calibri</vt:lpstr>
      <vt:lpstr>Segoe UI Semibold</vt:lpstr>
      <vt:lpstr>Thème Office</vt:lpstr>
      <vt:lpstr>Bienvenue en PSI* au Lycée La Martinière Monplaisir</vt:lpstr>
      <vt:lpstr>Présentations – Qui êtes-vous ?</vt:lpstr>
      <vt:lpstr>Présentations – Qui sommes-nous</vt:lpstr>
      <vt:lpstr>Les banques de concours</vt:lpstr>
      <vt:lpstr>Résultats 2024 &amp; Ambitions</vt:lpstr>
      <vt:lpstr>Planning (approximatif) d’un élève de deuxième année https://www.scei-concours.fr/ </vt:lpstr>
      <vt:lpstr>Site Internet</vt:lpstr>
      <vt:lpstr>Emploi du temps</vt:lpstr>
      <vt:lpstr>Planning annuel</vt:lpstr>
      <vt:lpstr>Emploi du temps de première semaine</vt:lpstr>
      <vt:lpstr>Divers</vt:lpstr>
      <vt:lpstr>Journée de Cohésion</vt:lpstr>
    </vt:vector>
  </TitlesOfParts>
  <Company>RRA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Windows</dc:creator>
  <cp:lastModifiedBy>Xavier Pessoles</cp:lastModifiedBy>
  <cp:revision>73</cp:revision>
  <dcterms:created xsi:type="dcterms:W3CDTF">2021-12-09T09:25:13Z</dcterms:created>
  <dcterms:modified xsi:type="dcterms:W3CDTF">2024-09-02T08:52:43Z</dcterms:modified>
</cp:coreProperties>
</file>